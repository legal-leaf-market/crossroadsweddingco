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3D362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3D362F"/>
                </a:solidFill>
                <a:latin typeface="Calibri"/>
              </a:rPr>
              <a:t>The retainer float (range midpoints)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Cash into the float</c:v>
                </c:pt>
              </c:strCache>
            </c:strRef>
          </c:tx>
          <c:spPr>
            <a:solidFill>
              <a:srgbClr val="C1633D">
                <a:alpha val="100000"/>
              </a:srgbClr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D36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163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F9D4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F6B53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Fall '26 retainers</c:v>
                  </c:pt>
                  <c:pt idx="1">
                    <c:v>Q1 '27 wave</c:v>
                  </c:pt>
                  <c:pt idx="2">
                    <c:v>Reserve going into summer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5000</c:v>
                </c:pt>
                <c:pt idx="1">
                  <c:v>6500</c:v>
                </c:pt>
                <c:pt idx="2">
                  <c:v>11500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3D362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36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DCC9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5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Frame: the industry average forces couples to choose between broke and boring. Our flat rate isn't a discount — it's a repositioning. Under-2,500 couples are underserved and they are most of the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Nic's background covers all three lanes: working musician, hospitality pro (rooms, service pace, reading a crowd), and the MC role is learnable inside the apprenticeship.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promise: predictability without a ceiling. Walk through one hybrid gig: $1,400 booking, $1,050 to Nic. At 24 gigs with realistic acoustic attachment the earned total balances the $24k draw, with tips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Chart uses midpoints of the documented ranges ($4–6k fall, $6–7k Q1). The mechanic to land: deposits are non-refundable and collected months ahead, so the draw is funded before the season begins.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no gig where Nic is thrown in cold, and no long unpaid 'training period' either — stages 2–5 are working, earning gigs.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status: the booking engine, city pages, and Spotify playlist capture shipped this week. Portal and Crossroads Live are the next two build phases. The pitch: most solo DJs drown in coordination texts — ours is productized.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cap is a promise to Nic as much as to couples: no 40-wedding death march. The travel surcharge goes to whoever drives — the business doesn't skim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partnership, not employment: Nic graduating the apprenticeship IS the proof the model transfers — the first data point that this becomes a franchise.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943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F9D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CROSSROADS WEDDING CO.  ·  PARTNER BRIEF FOR NIC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5156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AF5E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Crossroads opportunity.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wedding industry sells $2,500+ packages built to upsell. We sell one honest number — and that difference is the whole business.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5212080" cy="2834640"/>
          </a:xfrm>
          <a:prstGeom prst="roundRect">
            <a:avLst>
              <a:gd name="adj" fmla="val 3871"/>
            </a:avLst>
          </a:prstGeom>
          <a:solidFill>
            <a:srgbClr val="3A332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35204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49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INDUSTRY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38404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A49A8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$2,500+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484632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packages built to make the cheap option feel sad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Overage clocks, add-on menus, opaque quotes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3200400"/>
            <a:ext cx="5212080" cy="2834640"/>
          </a:xfrm>
          <a:prstGeom prst="roundRect">
            <a:avLst>
              <a:gd name="adj" fmla="val 3871"/>
            </a:avLst>
          </a:prstGeom>
          <a:solidFill>
            <a:srgbClr val="C1633D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629400" y="35204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1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CROSSROADS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38404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AF5E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$1,000 flat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484632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A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Ceremony through last dance: DJ, MC, timeline, equipment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A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Quoted up front. It doesn't move.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486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B26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Three roles. One crew. That's you.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musician-plus-hospitality pedigree is the product. Nobody else in the room can carry all three.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3429000" cy="374904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514600"/>
            <a:ext cx="640080" cy="640080"/>
          </a:xfrm>
          <a:prstGeom prst="ellipse">
            <a:avLst/>
          </a:prstGeom>
          <a:solidFill>
            <a:srgbClr val="C163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2261" y="26810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05840" y="33375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6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DJ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384048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Decks and sound from ceremony to last dance. One rig, one owner, zero handoffs.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389120" y="2148840"/>
            <a:ext cx="3429000" cy="374904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09160" y="2514600"/>
            <a:ext cx="640080" cy="640080"/>
          </a:xfrm>
          <a:prstGeom prst="ellipse">
            <a:avLst/>
          </a:prstGeom>
          <a:solidFill>
            <a:srgbClr val="C1633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5581" y="268102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09160" y="33375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6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MC</a:t>
            </a:r>
            <a:endParaRPr lang="en-US" sz="210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384048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command: intros, cues, phonetic names, and the drift control that keeps the night on schedule.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092440" y="2148840"/>
            <a:ext cx="3429000" cy="374904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12480" y="2514600"/>
            <a:ext cx="640080" cy="640080"/>
          </a:xfrm>
          <a:prstGeom prst="ellipse">
            <a:avLst/>
          </a:prstGeom>
          <a:solidFill>
            <a:srgbClr val="C1633D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8901" y="268102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12480" y="33375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6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musician</a:t>
            </a:r>
            <a:endParaRPr lang="en-US" sz="2100" dirty="0"/>
          </a:p>
        </p:txBody>
      </p:sp>
      <p:sp>
        <p:nvSpPr>
          <p:cNvPr id="18" name="Text 13"/>
          <p:cNvSpPr txBox="1"/>
          <p:nvPr/>
        </p:nvSpPr>
        <p:spPr>
          <a:xfrm>
            <a:off x="8412480" y="384048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acoustic sets for ceremony or cocktail hour. Flat $400 add-on — and 75% of it is yours.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486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B26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paycheck you can plan a life around.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7373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1633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$2,000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017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flat — starting January 1, 2027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5204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$24,000 annualized base. The same number lands in January as in June — the opposite of hospitality hours.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4663440"/>
            <a:ext cx="4754880" cy="1371600"/>
          </a:xfrm>
          <a:prstGeom prst="roundRect">
            <a:avLst>
              <a:gd name="adj" fmla="val 6667"/>
            </a:avLst>
          </a:prstGeom>
          <a:solidFill>
            <a:srgbClr val="F1E6D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48920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salary cap — a floor. </a:t>
            </a:r>
            <a:pPr indent="0" marL="0">
              <a:buNone/>
            </a:pPr>
            <a:r>
              <a:rPr lang="en-US" sz="140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real earnings true-up on top, quarterly and at year end.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35040" y="1737360"/>
            <a:ext cx="544068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00800" y="2011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F6B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TRUE-UP WORKS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2468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gig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1633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$750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2779776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 of the $1,000 day rate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321868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gig (DJ + acoustic)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0" y="321868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1633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$1,050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3529584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 of $1,400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396849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0" y="396849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1633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counted in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427939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of your earned total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471830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gigs, ~40% acoustic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0" y="471830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1633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≈ $20.8k–$24k+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50292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earned before tips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5532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Earned splits + tips − draws paid = your true-up. Surplus pays out; the draw never claws back a slow quarter.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486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B26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Booked in winter. Paid all year.</a:t>
            </a:r>
            <a:endParaRPr lang="en-US" sz="3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85800" y="1554480"/>
          <a:ext cx="57607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812280" y="1664208"/>
            <a:ext cx="310896" cy="310896"/>
          </a:xfrm>
          <a:prstGeom prst="ellipse">
            <a:avLst/>
          </a:prstGeom>
          <a:solidFill>
            <a:srgbClr val="C1633D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812280" y="1664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A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269480" y="16459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booking starts with a $500 retainer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269480" y="20116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8–12 this fall, 12–14 in the post-holiday engagement wave: a $10k–$13k reserve before peak season starts.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12280" y="3081528"/>
            <a:ext cx="310896" cy="310896"/>
          </a:xfrm>
          <a:prstGeom prst="ellipse">
            <a:avLst/>
          </a:prstGeom>
          <a:solidFill>
            <a:srgbClr val="C1633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812280" y="3081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A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269480" y="3063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clear 14 days before each event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269480" y="342900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$500–$1,300 per gig lands ahead of the wedding, not after it.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812280" y="4498848"/>
            <a:ext cx="310896" cy="310896"/>
          </a:xfrm>
          <a:prstGeom prst="ellipse">
            <a:avLst/>
          </a:prstGeom>
          <a:solidFill>
            <a:srgbClr val="C1633D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812280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A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269480" y="44805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reserve carries January–April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269480" y="484632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draws are paid from money already collected — stability without borrowing.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486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B26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Six gigs from shadow to solo.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71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ramp — every stage has you doing more of the show with a safety net that shrinks on schedule.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2542032" cy="338328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2606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GIG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9718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6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Observe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566160"/>
            <a:ext cx="2011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shadow: load-in, sound, cues, teardown. You watch the whole machine run once.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27832" y="3977640"/>
            <a:ext cx="274320" cy="0"/>
          </a:xfrm>
          <a:prstGeom prst="line">
            <a:avLst/>
          </a:prstGeom>
          <a:noFill/>
          <a:ln w="25400">
            <a:solidFill>
              <a:srgbClr val="A34D2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502152" y="2286000"/>
            <a:ext cx="2542032" cy="338328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776472" y="2606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GIGS 2–3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776472" y="29718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6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Co-pilot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776472" y="3566160"/>
            <a:ext cx="2011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segments — cocktail hour, dinner sets — with the lead on the mic.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44184" y="3977640"/>
            <a:ext cx="274320" cy="0"/>
          </a:xfrm>
          <a:prstGeom prst="line">
            <a:avLst/>
          </a:prstGeom>
          <a:noFill/>
          <a:ln w="25400">
            <a:solidFill>
              <a:srgbClr val="A34D2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318504" y="2286000"/>
            <a:ext cx="2542032" cy="338328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592824" y="2606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6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GIGS 4–5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92824" y="29718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6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Reverse co-pilot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592824" y="3566160"/>
            <a:ext cx="2011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lead the night; the lead is your backup and debrief partner.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860536" y="3977640"/>
            <a:ext cx="274320" cy="0"/>
          </a:xfrm>
          <a:prstGeom prst="line">
            <a:avLst/>
          </a:prstGeom>
          <a:noFill/>
          <a:ln w="25400">
            <a:solidFill>
              <a:srgbClr val="A34D2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134856" y="2286000"/>
            <a:ext cx="2542032" cy="3383280"/>
          </a:xfrm>
          <a:prstGeom prst="roundRect">
            <a:avLst>
              <a:gd name="adj" fmla="val 4317"/>
            </a:avLst>
          </a:prstGeom>
          <a:solidFill>
            <a:srgbClr val="C1633D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409176" y="2606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1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GIG 6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409176" y="29718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AF5E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Solo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409176" y="3566160"/>
            <a:ext cx="2011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A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Graduation. Your name on the run sheet, full talent cut, full command.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486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B26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Agency OS: the no-paperwork machine.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7160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does the chasing so the crew only does the craft.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377440"/>
            <a:ext cx="548640" cy="548640"/>
          </a:xfrm>
          <a:prstGeom prst="ellipse">
            <a:avLst/>
          </a:prstGeom>
          <a:solidFill>
            <a:srgbClr val="C163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766" y="25200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2359152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engine   </a:t>
            </a:r>
            <a:pPr indent="0" marL="0">
              <a:buNone/>
            </a:pPr>
            <a:r>
              <a:rPr lang="en-US" sz="1000" b="1" spc="200" kern="0" dirty="0">
                <a:solidFill>
                  <a:srgbClr val="5F6B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NOW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276148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Flat-rate site, date requests, deposits, confirmation emails — live today at crossroadsweddingco.com.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63640" y="210312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2377440"/>
            <a:ext cx="548640" cy="548640"/>
          </a:xfrm>
          <a:prstGeom prst="ellipse">
            <a:avLst/>
          </a:prstGeom>
          <a:solidFill>
            <a:srgbClr val="C1633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0606" y="25200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15200" y="2359152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planning hub   </a:t>
            </a:r>
            <a:pPr indent="0" marL="0">
              <a:buNone/>
            </a:pPr>
            <a:r>
              <a:rPr lang="en-US" sz="1000" b="1" spc="200" kern="0" dirty="0">
                <a:solidFill>
                  <a:srgbClr val="A34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BUILD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7315200" y="276148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Magic-link portal: timeline, VIP phonetics, must-plays and do-not-plays. No passwords, no PDFs emailed around.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85800" y="416052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60120" y="4434840"/>
            <a:ext cx="548640" cy="548640"/>
          </a:xfrm>
          <a:prstGeom prst="ellipse">
            <a:avLst/>
          </a:prstGeom>
          <a:solidFill>
            <a:srgbClr val="C1633D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766" y="457748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37360" y="4416552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Crossroads Live   </a:t>
            </a:r>
            <a:pPr indent="0" marL="0">
              <a:buNone/>
            </a:pPr>
            <a:r>
              <a:rPr lang="en-US" sz="1000" b="1" spc="200" kern="0" dirty="0">
                <a:solidFill>
                  <a:srgbClr val="A34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BUILD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1737360" y="481888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drift engine. Speeches run 18 minutes over? Every downstream cue shifts automatically, on your phone and the vendors'.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63640" y="416052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37960" y="4434840"/>
            <a:ext cx="548640" cy="548640"/>
          </a:xfrm>
          <a:prstGeom prst="ellipse">
            <a:avLst/>
          </a:prstGeom>
          <a:solidFill>
            <a:srgbClr val="C1633D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0606" y="457748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315200" y="4416552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Spotify-native intake   </a:t>
            </a:r>
            <a:pPr indent="0" marL="0">
              <a:buNone/>
            </a:pPr>
            <a:r>
              <a:rPr lang="en-US" sz="1000" b="1" spc="200" kern="0" dirty="0">
                <a:solidFill>
                  <a:srgbClr val="5F6B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NOW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315200" y="481888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Couples build the playlist in their own Spotify and share the link at booking. It follows the wedding into your booth.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486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B26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2027: capped at 24, on purpose.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85800" y="173736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60120" y="19659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1633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24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30175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weddings in 2027 — a hard cap, not a stretch goal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0" y="173736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663440" y="19659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1633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≈2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30175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on average, concentrated May–October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092440" y="173736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D362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366760" y="19659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1633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100%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8366760" y="30175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focus: flawless reviews, zero burnout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4348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cap it: </a:t>
            </a:r>
            <a:pPr indent="0" marL="0">
              <a:buNone/>
            </a:pPr>
            <a:r>
              <a:rPr lang="en-US" sz="150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date gets full production attention, every review stays five-star quality, and the calendar leaves room for a life. Scale comes from the machine (slide 8), not from grinding the crew.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539496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F1E6D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0120" y="55321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discipline: two-hour radius around Columbus. Venues past ~60 minutes carry a $100–$150 travel surcharge — paid directly to the talent driving.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B2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AF5E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long game.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8745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machine in Columbus. Then hand the same playbook — flat rate, talent-first split, Agency OS — to the next market, and the one after that.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85800" y="3017520"/>
            <a:ext cx="3429000" cy="2377440"/>
          </a:xfrm>
          <a:prstGeom prst="roundRect">
            <a:avLst>
              <a:gd name="adj" fmla="val 4615"/>
            </a:avLst>
          </a:prstGeom>
          <a:solidFill>
            <a:srgbClr val="3A332C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3291840"/>
            <a:ext cx="548640" cy="548640"/>
          </a:xfrm>
          <a:prstGeom prst="ellipse">
            <a:avLst/>
          </a:prstGeom>
          <a:solidFill>
            <a:srgbClr val="2B262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766" y="34344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60120" y="397764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AF5E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75% to talent, always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45720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49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split that keeps the best people is the split that scales.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89120" y="3017520"/>
            <a:ext cx="3429000" cy="2377440"/>
          </a:xfrm>
          <a:prstGeom prst="roundRect">
            <a:avLst>
              <a:gd name="adj" fmla="val 4615"/>
            </a:avLst>
          </a:prstGeom>
          <a:solidFill>
            <a:srgbClr val="3A332C"/>
          </a:solidFill>
          <a:ln/>
        </p:spPr>
      </p:sp>
      <p:sp>
        <p:nvSpPr>
          <p:cNvPr id="10" name="Shape 7"/>
          <p:cNvSpPr/>
          <p:nvPr/>
        </p:nvSpPr>
        <p:spPr>
          <a:xfrm>
            <a:off x="4663440" y="3291840"/>
            <a:ext cx="548640" cy="548640"/>
          </a:xfrm>
          <a:prstGeom prst="ellipse">
            <a:avLst/>
          </a:prstGeom>
          <a:solidFill>
            <a:srgbClr val="2B262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6086" y="34344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63440" y="397764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AF5E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One operating system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663440" y="45720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49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Booking, planning, payouts — the software is the franchise.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092440" y="3017520"/>
            <a:ext cx="3429000" cy="2377440"/>
          </a:xfrm>
          <a:prstGeom prst="roundRect">
            <a:avLst>
              <a:gd name="adj" fmla="val 4615"/>
            </a:avLst>
          </a:prstGeom>
          <a:solidFill>
            <a:srgbClr val="3A332C"/>
          </a:solidFill>
          <a:ln/>
        </p:spPr>
      </p:sp>
      <p:sp>
        <p:nvSpPr>
          <p:cNvPr id="15" name="Shape 11"/>
          <p:cNvSpPr/>
          <p:nvPr/>
        </p:nvSpPr>
        <p:spPr>
          <a:xfrm>
            <a:off x="8366760" y="3291840"/>
            <a:ext cx="548640" cy="548640"/>
          </a:xfrm>
          <a:prstGeom prst="ellipse">
            <a:avLst/>
          </a:prstGeom>
          <a:solidFill>
            <a:srgbClr val="2B262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9406" y="343448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66760" y="397764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AF5E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New markets, same promise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6760" y="45720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49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city runs the exact machine we prove here first.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685800" y="58064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rgbClr val="CF9D4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Let's build it.</a:t>
            </a:r>
            <a:endParaRPr lang="en-US" sz="2400" dirty="0"/>
          </a:p>
        </p:txBody>
      </p:sp>
      <p:sp>
        <p:nvSpPr>
          <p:cNvPr id="20" name="Text 15"/>
          <p:cNvSpPr txBox="1"/>
          <p:nvPr/>
        </p:nvSpPr>
        <p:spPr>
          <a:xfrm>
            <a:off x="6172200" y="59893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49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 Kennedy · jake@crossroadsweddingco.com · crossroadsweddingco.com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Crossroads Wedding Co. — Partner Brief for Nic</dc:title>
  <dc:subject>PptxGenJS Presentation</dc:subject>
  <dc:creator>Crossroads Wedding Co.</dc:creator>
  <cp:lastModifiedBy>Crossroads Wedding Co.</cp:lastModifiedBy>
  <cp:revision>1</cp:revision>
  <dcterms:created xsi:type="dcterms:W3CDTF">2026-08-26T11:27:38Z</dcterms:created>
  <dcterms:modified xsi:type="dcterms:W3CDTF">2026-08-26T11:27:38Z</dcterms:modified>
</cp:coreProperties>
</file>